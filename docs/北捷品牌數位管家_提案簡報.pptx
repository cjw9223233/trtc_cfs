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79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475488"/>
          </a:xfrm>
          <a:prstGeom prst="rect">
            <a:avLst/>
          </a:prstGeom>
          <a:solidFill>
            <a:srgbClr val="14598D"/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Vibe Coding 主題式廣徵提案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20440" y="82296"/>
            <a:ext cx="1783080" cy="310896"/>
          </a:xfrm>
          <a:prstGeom prst="roundRect">
            <a:avLst>
              <a:gd name="adj" fmla="val 11765"/>
            </a:avLst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822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AI 輔助開發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北捷品牌</a:t>
            </a:r>
            <a:endParaRPr lang="en-US" sz="4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0" indent="0" algn="l">
              <a:buNone/>
            </a:pPr>
            <a:r>
              <a:rPr lang="en-US" sz="44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數位管家</a:t>
            </a:r>
            <a:endParaRPr lang="en-US" sz="4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6334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CI 規範自動化與系統介面生成工具</a:t>
            </a:r>
            <a:endParaRPr lang="en-US" sz="15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3218688"/>
            <a:ext cx="2560320" cy="45720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36499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以自然語言驅動 AI，解決三大核心痛點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讓每位同仁都能快速產出符合規範的品牌工具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133088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90%</a:t>
            </a:r>
            <a:endParaRPr lang="en-US" sz="2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455371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查核時間節省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4133088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50%</a:t>
            </a:r>
            <a:endParaRPr lang="en-US" sz="2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65960" y="455371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溝通輪次減少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0" y="4133088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≈ 0</a:t>
            </a:r>
            <a:endParaRPr lang="en-US" sz="2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0" y="455371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色碼誤用率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598D"/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4747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現況痛點：我們每天在浪費什麼？</a:t>
            </a:r>
            <a:endParaRPr lang="en-US" sz="2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2743200" cy="385876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0268B7"/>
          </a:solidFill>
          <a:ln w="12700">
            <a:solidFill>
              <a:srgbClr val="0268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01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1188720"/>
            <a:ext cx="1234440" cy="1234440"/>
          </a:xfrm>
          <a:prstGeom prst="ellipse">
            <a:avLst/>
          </a:prstGeom>
          <a:solidFill>
            <a:srgbClr val="0268B7">
              <a:alpha val="12000"/>
            </a:srgbClr>
          </a:solidFill>
          <a:ln w="19050">
            <a:solidFill>
              <a:srgbClr val="0268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887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📋</a:t>
            </a:r>
            <a:endParaRPr lang="en-US" sz="3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品牌規範查詢耗時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" y="3063240"/>
            <a:ext cx="1645920" cy="27432"/>
          </a:xfrm>
          <a:prstGeom prst="rect">
            <a:avLst/>
          </a:prstGeom>
          <a:solidFill>
            <a:srgbClr val="0268B7"/>
          </a:solidFill>
          <a:ln w="12700">
            <a:solidFill>
              <a:srgbClr val="026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CI 手冊以 PDF 保存，查詢需 5～15 分鐘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色碼版本混用，各單位自行取色，形象不一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Logo 版本繁多，難以快速核對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82112" y="1024128"/>
            <a:ext cx="2743200" cy="385876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1556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1155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02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1234440" cy="1234440"/>
          </a:xfrm>
          <a:prstGeom prst="ellipse">
            <a:avLst/>
          </a:prstGeom>
          <a:solidFill>
            <a:srgbClr val="5ECBC3">
              <a:alpha val="12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1887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💬</a:t>
            </a:r>
            <a:endParaRPr lang="en-US" sz="3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73552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跨單位介面溝通困難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30752" y="3063240"/>
            <a:ext cx="1645920" cy="27432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154680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業務單位難以表達 UI/UX 需求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反覆來回確認，開發周期延長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缺乏視覺原型，資源耗費大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08192" y="1024128"/>
            <a:ext cx="2743200" cy="385876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11556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FC8561"/>
          </a:solidFill>
          <a:ln w="12700">
            <a:solidFill>
              <a:srgbClr val="FC85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155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03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0" y="1188720"/>
            <a:ext cx="1234440" cy="1234440"/>
          </a:xfrm>
          <a:prstGeom prst="ellipse">
            <a:avLst/>
          </a:prstGeom>
          <a:solidFill>
            <a:srgbClr val="FC8561">
              <a:alpha val="12000"/>
            </a:srgbClr>
          </a:solidFill>
          <a:ln w="19050">
            <a:solidFill>
              <a:srgbClr val="FC85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1887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🔧</a:t>
            </a:r>
            <a:endParaRPr lang="en-US" sz="3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非技術人員數位門檻高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656832" y="3063240"/>
            <a:ext cx="1645920" cy="27432"/>
          </a:xfrm>
          <a:prstGeom prst="rect">
            <a:avLst/>
          </a:prstGeom>
          <a:solidFill>
            <a:srgbClr val="FC8561"/>
          </a:solidFill>
          <a:ln w="12700">
            <a:solidFill>
              <a:srgbClr val="FC85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54680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有需求卻缺乏設計與開發能力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產出工具品質參差不齊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無法快速搭建具專業感的數位工具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59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5ECBC3">
              <a:alpha val="18000"/>
            </a:srgbClr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0079B0">
              <a:alpha val="20000"/>
            </a:srgbClr>
          </a:solidFill>
          <a:ln w="12700">
            <a:solidFill>
              <a:srgbClr val="0079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ECBC3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解決方案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北捷品牌數位管家</a:t>
            </a:r>
            <a:endParaRPr lang="en-US" sz="4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ECBC3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一個工具，解決三大痛點</a:t>
            </a:r>
            <a:endParaRPr lang="en-US" sz="16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FF0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✓  無需安裝，瀏覽器即開即用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FF0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✓  以純自然語言描述，AI 輔助開發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FF0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✓  成果已開發完成，可即時展示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87452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01  </a:t>
            </a:r>
            <a:r>
              <a:rPr lang="en-US" sz="1200" b="1" dirty="0" err="1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品牌色</a:t>
            </a:r>
            <a:r>
              <a:rPr lang="zh-TW" alt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卡</a:t>
            </a:r>
            <a:r>
              <a:rPr lang="en-US" sz="1200" b="1" dirty="0" err="1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管理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95160" y="187452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87452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02  品牌組合預覽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743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03  系統版型產生器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95160" y="274320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743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04  SVG 圖表引擎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合計超過 2,800 行程式碼｜index.html + style.css + app.js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268B7"/>
          </a:solidFill>
          <a:ln w="12700">
            <a:solidFill>
              <a:srgbClr val="0268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4747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四大功能模組</a:t>
            </a:r>
            <a:endParaRPr lang="en-US" sz="2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13308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0700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0268B7"/>
          </a:solidFill>
          <a:ln w="12700">
            <a:solidFill>
              <a:srgbClr val="0268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070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01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9264" y="1188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品牌色</a:t>
            </a:r>
            <a:r>
              <a:rPr lang="zh-TW" altLang="en-US" sz="15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卡</a:t>
            </a:r>
            <a:r>
              <a:rPr lang="en-US" sz="1500" b="1" dirty="0" err="1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管理</a:t>
            </a:r>
            <a:endParaRPr lang="en-US" sz="15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9264" y="1609344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0268B7">
              <a:alpha val="12000"/>
            </a:srgbClr>
          </a:solidFill>
          <a:ln w="12700">
            <a:solidFill>
              <a:srgbClr val="0268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6093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設計製作 ‧ 文件品管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92" y="198424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整合 25 個官方色號，一鍵複製 HEX 色碼、HSV 色彩分析、六大色系分類與搜尋排序。取色從「翻 PDF 15 分鐘」縮短為「點擊 1 秒」。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18304" y="1024128"/>
            <a:ext cx="413308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55464" y="120700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2070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02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31536" y="1188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品牌組合預覽</a:t>
            </a:r>
            <a:endParaRPr lang="en-US" sz="15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31536" y="1609344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5ECBC3">
              <a:alpha val="12000"/>
            </a:srgbClr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6093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CBC3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文件設計 ‧ 對外溝通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55464" y="198424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即時切換主色卡 × Logo 版本（標準彩色 / 反白 / 黑字）× 字體 × 簡報模板，產生完整視覺預覽，降低設計錯誤率。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032" y="3017520"/>
            <a:ext cx="413308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" y="3200400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14598D"/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2004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03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9264" y="31821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系統版型產生器</a:t>
            </a:r>
            <a:endParaRPr lang="en-US" sz="15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9264" y="3602736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4598D">
              <a:alpha val="12000"/>
            </a:srgbClr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602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業務系統 ‧ 原型開發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3192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5 種業務場景 × 3 種版面結構，一鍵生成含導覽列、儀表板 KPI、任務清單的完整 HTML，可直接複製原始碼使用。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18304" y="3017520"/>
            <a:ext cx="413308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55464" y="3200400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FC8561"/>
          </a:solidFill>
          <a:ln w="12700">
            <a:solidFill>
              <a:srgbClr val="FC85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32004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04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31536" y="31821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SVG 圖表引擎</a:t>
            </a:r>
            <a:endParaRPr lang="en-US" sz="15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31536" y="3602736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FC8561">
              <a:alpha val="12000"/>
            </a:srgbClr>
          </a:solidFill>
          <a:ln w="12700">
            <a:solidFill>
              <a:srgbClr val="FC85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3602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856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數據視覺化 ‧ 報告製作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55464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純 SVG 長條圖產生器，不依賴第三方函式庫，自動渲染準點率、客流量等指標，確保任何瀏覽器均可正確顯示。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598D"/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4747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開發過程：Vibe Coding 如何實現？</a:t>
            </a:r>
            <a:endParaRPr lang="en-US" sz="2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7FAFB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什麼是 Vibe Coding？</a:t>
            </a:r>
            <a:endParaRPr lang="en-US" sz="15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以繁體中文自然語言向 AI 描述需求，AI 自動生成對應程式碼。本工具全程採用此方式開發，無需傳統編碼流程。</a:t>
            </a:r>
            <a:endParaRPr lang="en-US" sz="11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024128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79576"/>
            <a:ext cx="420624" cy="420624"/>
          </a:xfrm>
          <a:prstGeom prst="ellipse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79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1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66360" y="10972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色彩分析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66360" y="138988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描述「HSV 排序與色系分類」→ AI 自動生成演算法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075688"/>
            <a:ext cx="420624" cy="420624"/>
          </a:xfrm>
          <a:prstGeom prst="ellipse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2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19933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動態圖表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66360" y="22860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描述「長條圖、不使用外部函式庫」→ AI 產出純 SVG 引擎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2816352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71800"/>
            <a:ext cx="420624" cy="420624"/>
          </a:xfrm>
          <a:prstGeom prst="ellipse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3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66360" y="288950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版型引擎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66360" y="318211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描述「5 業務場景、3 版面、符合 CI 色彩」→ 生成 1,100+ 行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3712464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867912"/>
            <a:ext cx="420624" cy="420624"/>
          </a:xfrm>
          <a:prstGeom prst="ellipse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4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66360" y="378561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UX 優化</a:t>
            </a:r>
            <a:endParaRPr lang="en-US" sz="13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6360" y="40782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描述「Sticky 導覽、進度條、搜尋、Toast 通知」→ 逐步疊代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2697480"/>
            <a:ext cx="3840480" cy="2176272"/>
          </a:xfrm>
          <a:prstGeom prst="roundRect">
            <a:avLst>
              <a:gd name="adj" fmla="val 4202"/>
            </a:avLst>
          </a:prstGeom>
          <a:solidFill>
            <a:srgbClr val="14598D"/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788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CBC3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成品規格</a:t>
            </a:r>
            <a:endParaRPr lang="en-US" sz="1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11480" y="3246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📁  index.html + style.css + app.js</a:t>
            </a:r>
            <a:endParaRPr lang="en-US" sz="11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1480" y="36484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📝  合計超過 2,800 行程式碼</a:t>
            </a:r>
            <a:endParaRPr lang="en-US" sz="11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148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🌐  無需安裝，瀏覽器即開即用</a:t>
            </a:r>
            <a:endParaRPr lang="en-US" sz="11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1480" y="44531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✅  已開發完成，可即時展示</a:t>
            </a:r>
            <a:endParaRPr lang="en-US" sz="11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598D"/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4747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導入效益分析</a:t>
            </a:r>
            <a:endParaRPr lang="en-US" sz="2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51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90%</a:t>
            </a:r>
            <a:endParaRPr lang="en-US" sz="3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CI查核時間節省</a:t>
            </a:r>
            <a:endParaRPr lang="en-US" sz="11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從 15 分 → 1 分鐘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23160" y="1024128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51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50%+</a:t>
            </a:r>
            <a:endParaRPr lang="en-US" sz="3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2316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溝通輪次減少</a:t>
            </a:r>
            <a:endParaRPr lang="en-US" sz="11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23160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視覺預覽取代文字說明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90288" y="1024128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051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100%</a:t>
            </a:r>
            <a:endParaRPr lang="en-US" sz="3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90288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可獨立產出原型</a:t>
            </a:r>
            <a:endParaRPr lang="en-US" sz="11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90288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非技術人員亦可操作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57416" y="1024128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7"/>
            </a:solidFill>
            <a:prstDash val="solid"/>
          </a:ln>
          <a:effectLst>
            <a:outerShdw blurRad="101600" dist="38100" dir="2700000" algn="bl" rotWithShape="0">
              <a:srgbClr val="14598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1051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≈ 0</a:t>
            </a:r>
            <a:endParaRPr lang="en-US" sz="3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57416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品牌色碼誤用率</a:t>
            </a:r>
            <a:endParaRPr lang="en-US" sz="11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57416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唯一數位色碼來源</a:t>
            </a:r>
            <a:endParaRPr lang="en-US" sz="9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2633472"/>
            <a:ext cx="8631936" cy="384048"/>
          </a:xfrm>
          <a:prstGeom prst="roundRect">
            <a:avLst>
              <a:gd name="adj" fmla="val 11905"/>
            </a:avLst>
          </a:prstGeom>
          <a:solidFill>
            <a:srgbClr val="0268B7"/>
          </a:solidFill>
          <a:ln w="12700">
            <a:solidFill>
              <a:srgbClr val="0268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334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效益面向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94560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改善前現況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77840" y="263347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導入後效益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" y="3054096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5409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行政效率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194560" y="305409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查詢 CI 規範需 5～15 分鐘，易遺漏或誤用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577840" y="305409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秒級點擊取得標準色碼，節省 90% 查核時間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6032" y="3648456"/>
            <a:ext cx="8631936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4845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品牌一致性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194560" y="364845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各單位自行取色，文件風格不統一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77840" y="364845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全色系數位化管理，確保所有文件使用官方 CI 色碼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6032" y="4242816"/>
            <a:ext cx="8631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4281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介面開發效率</a:t>
            </a:r>
            <a:endParaRPr lang="en-US" sz="12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194560" y="424281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非技術同仁難以建立具專業感的系統原型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77840" y="424281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一鍵生成符合 CI 的版型 HTML，人人可快速搭建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598D">
              <a:alpha val="65000"/>
            </a:srgbClr>
          </a:solidFill>
          <a:ln w="12700">
            <a:solidFill>
              <a:srgbClr val="1459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CBC3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立即行動</a:t>
            </a:r>
            <a:endParaRPr lang="en-US" sz="1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北捷品牌數位管家</a:t>
            </a:r>
            <a:endParaRPr lang="en-US" sz="4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已準備就緒</a:t>
            </a:r>
            <a:endParaRPr lang="en-US" sz="4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FF0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成品可即時展示 ‧ 原始碼完整附上 ‧ 可即刻納入業務流程</a:t>
            </a:r>
            <a:endParaRPr lang="en-US" sz="14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3182112"/>
            <a:ext cx="2743200" cy="36576"/>
          </a:xfrm>
          <a:prstGeom prst="rect">
            <a:avLst/>
          </a:prstGeom>
          <a:solidFill>
            <a:srgbClr val="5ECBC3"/>
          </a:solidFill>
          <a:ln w="12700">
            <a:solidFill>
              <a:srgbClr val="5ECB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333756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3375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🌐  成品展示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https://g-success.neocities.org/TRTC_CFS/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77840" y="333756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5EC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33375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💻  原始碼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https://github.com/cjw9223233/TRTC_CFS</a:t>
            </a:r>
            <a:endParaRPr lang="en-US" sz="105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台北捷運  ×  Vibe Coding  ×  AI 輔助開發</a:t>
            </a:r>
            <a:endParaRPr lang="en-US" sz="1000" dirty="0"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34747"/>
          </a:xfrm>
          <a:prstGeom prst="rect">
            <a:avLst/>
          </a:prstGeom>
          <a:solidFill>
            <a:srgbClr val="5EC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應用</a:t>
            </a:r>
            <a:r>
              <a:rPr lang="en-US" altLang="zh-TW" sz="2200" b="1" dirty="0" err="1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  <a:cs typeface="Arial" pitchFamily="34" charset="-120"/>
              </a:rPr>
              <a:t>北捷品牌數位管家</a:t>
            </a:r>
            <a:r>
              <a:rPr sz="2200" b="1" dirty="0" err="1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實作範</a:t>
            </a:r>
            <a:r>
              <a:rPr lang="zh-TW" altLang="en-US" sz="2200" b="1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例</a:t>
            </a:r>
            <a:endParaRPr sz="2200" b="1" dirty="0">
              <a:solidFill>
                <a:srgbClr val="FFFFFF"/>
              </a:solidFill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987552"/>
            <a:ext cx="86319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749808" cy="310896"/>
          </a:xfrm>
          <a:prstGeom prst="rect">
            <a:avLst/>
          </a:prstGeom>
          <a:solidFill>
            <a:srgbClr val="5EC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472" y="1078992"/>
            <a:ext cx="7498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提示詞</a:t>
            </a:r>
            <a:endParaRPr sz="1100" b="1" dirty="0">
              <a:solidFill>
                <a:srgbClr val="14598D"/>
              </a:solidFill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70432" y="1042415"/>
            <a:ext cx="75895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 err="1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將簡報字體與色系轉換符合專案</a:t>
            </a:r>
            <a:r>
              <a:rPr sz="1150" b="0" dirty="0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 https://github.com/cjw9223233/TRTC_CFS </a:t>
            </a:r>
            <a:r>
              <a:rPr sz="1150" b="0" dirty="0" err="1">
                <a:solidFill>
                  <a:srgbClr val="3C3C3C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內容的指引與風格</a:t>
            </a:r>
            <a:endParaRPr sz="1150" b="0" dirty="0">
              <a:solidFill>
                <a:srgbClr val="3C3C3C"/>
              </a:solidFill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6032" y="1737360"/>
            <a:ext cx="1234440" cy="347472"/>
          </a:xfrm>
          <a:prstGeom prst="rect">
            <a:avLst/>
          </a:prstGeom>
          <a:solidFill>
            <a:srgbClr val="FC8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" y="1737360"/>
            <a:ext cx="1234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300" b="1" dirty="0">
                <a:solidFill>
                  <a:srgbClr val="FFFFFF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套用提示詞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1737360"/>
            <a:ext cx="1234440" cy="347472"/>
          </a:xfrm>
          <a:prstGeom prst="rect">
            <a:avLst/>
          </a:prstGeom>
          <a:solidFill>
            <a:srgbClr val="5EC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1728" y="1733613"/>
            <a:ext cx="1234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套用</a:t>
            </a:r>
            <a:r>
              <a:rPr lang="zh-TW" altLang="en-US" sz="1300" b="1" dirty="0">
                <a:solidFill>
                  <a:srgbClr val="14598D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前後對比</a:t>
            </a:r>
            <a:endParaRPr sz="1300" b="1" dirty="0">
              <a:solidFill>
                <a:srgbClr val="14598D"/>
              </a:solidFill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6032" y="2157984"/>
            <a:ext cx="4023360" cy="2724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90872" y="2167570"/>
            <a:ext cx="4069080" cy="2724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pic>
        <p:nvPicPr>
          <p:cNvPr id="16" name="Picture 15" descr="slide_img1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157984"/>
            <a:ext cx="3877056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79392" y="3200400"/>
            <a:ext cx="411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268B7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256032" y="4864608"/>
            <a:ext cx="146304" cy="146304"/>
          </a:xfrm>
          <a:prstGeom prst="ellipse">
            <a:avLst/>
          </a:prstGeom>
          <a:solidFill>
            <a:srgbClr val="026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818888"/>
            <a:ext cx="19385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主色：自訂綠 → 專案藍 #14598D / #0268B7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4864608"/>
            <a:ext cx="146304" cy="146304"/>
          </a:xfrm>
          <a:prstGeom prst="ellipse">
            <a:avLst/>
          </a:prstGeom>
          <a:solidFill>
            <a:srgbClr val="5EC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33472" y="4818888"/>
            <a:ext cx="19385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輔助：薄荷綠 #5ECBC3（--mint）對齊 nav 結構</a:t>
            </a:r>
          </a:p>
        </p:txBody>
      </p:sp>
      <p:sp>
        <p:nvSpPr>
          <p:cNvPr id="22" name="Oval 21"/>
          <p:cNvSpPr/>
          <p:nvPr/>
        </p:nvSpPr>
        <p:spPr>
          <a:xfrm>
            <a:off x="4608576" y="4864608"/>
            <a:ext cx="146304" cy="146304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09744" y="4818888"/>
            <a:ext cx="19385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字色：#3C3C3C / #727171（--gray-900/700）</a:t>
            </a:r>
          </a:p>
        </p:txBody>
      </p:sp>
      <p:sp>
        <p:nvSpPr>
          <p:cNvPr id="24" name="Oval 23"/>
          <p:cNvSpPr/>
          <p:nvPr/>
        </p:nvSpPr>
        <p:spPr>
          <a:xfrm>
            <a:off x="6784848" y="4864608"/>
            <a:ext cx="146304" cy="146304"/>
          </a:xfrm>
          <a:prstGeom prst="ellipse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思源黑體 TW" panose="020B0500000000000000" pitchFamily="34" charset="-120"/>
              <a:ea typeface="思源黑體 TW" panose="020B0500000000000000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4818888"/>
            <a:ext cx="19385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27171"/>
                </a:solidFill>
                <a:latin typeface="思源黑體 TW" panose="020B0500000000000000" pitchFamily="34" charset="-120"/>
                <a:ea typeface="思源黑體 TW" panose="020B0500000000000000" pitchFamily="34" charset="-120"/>
              </a:rPr>
              <a:t>背景：#EEF3F7 / #F7FAFB（--bg-page / --card）</a:t>
            </a:r>
          </a:p>
        </p:txBody>
      </p:sp>
      <p:pic>
        <p:nvPicPr>
          <p:cNvPr id="14" name="Picture 13" descr="slide_img2_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167570"/>
            <a:ext cx="4151376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491</Words>
  <Application>Microsoft Office PowerPoint</Application>
  <PresentationFormat>如螢幕大小 (16:9)</PresentationFormat>
  <Paragraphs>131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思源黑體 TW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北捷品牌數位管家</dc:title>
  <dc:subject>PptxGenJS Presentation</dc:subject>
  <dc:creator>PptxGenJS</dc:creator>
  <cp:lastModifiedBy>鍾錦玟</cp:lastModifiedBy>
  <cp:revision>3</cp:revision>
  <dcterms:created xsi:type="dcterms:W3CDTF">2026-06-09T01:44:21Z</dcterms:created>
  <dcterms:modified xsi:type="dcterms:W3CDTF">2026-06-09T06:06:19Z</dcterms:modified>
</cp:coreProperties>
</file>